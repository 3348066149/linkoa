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68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各位同事，今天给大家介绍公司自研的 LINKOA 数字化项目协同平台。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这个系统把项目流程、客户管理、文档协作放在一个平台里，是公司项目交付的数字化底座。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今天前半部分带大家认识系统都有哪些能力，后半部分按角色讲怎么上手使用。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我们的品牌理念是"品牌与用户如此之近"，这个系统也贯彻了同样的设计调性。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今天分两大部分：先认识系统能做什么，再按角色教大家怎么用。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第一部分相当于系统说明书，帮大家建立整体认知。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第二部分是实操，请大家按自己的角色记住关键入口。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作为设计公司，我们自己的系统也要体现设计调性。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整个系统沿用公司标识的黑白红配色，视觉统一。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登录页、卡片、动效都做了精细打磨。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希望同事们在用的过程中也能感受到这份用心。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LINKOA 一共九个模块，覆盖从立项到交付再到客户沟通的全流程。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对内是项目、模板、客户、文件、消息、报表这些日常协作模块。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对外有客户门户，让客户实时看到项目进度。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 助手青青侠在需要时提供辅助。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这是项目管理首页，所有项目都在一个列表里。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每个项目卡片聚合了客户单位、对接人、设计师、状态等关键信息。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右上角可以搜索、筛选、新建项目。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项目完成归档后，还能看到客户评价入口。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点进任何一个项目，看到的就是这张流程画布。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画布上是一个个流程节点，每个节点填完表单就标记完成。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右侧面板可以看项目概览、参与讨论、查看客户评价和操作记录。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这是项目推进的核心工作区。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流程模板把公司沉淀的项目流程做成标准。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目前预置了展会活动、平面视觉、IP 文创等模板。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新建项目时选一个模板，流程节点就自动生成好了。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管理员可以继续新增和编辑模板。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客户库用"单位 + 对接人"两级结构管理。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先建客户单位，再在单位下新增对接人。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每个对接人集中记录电话、图片等信息。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新建项目时可以直接从客户库选择单位和对接人。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文件模块把每个项目的素材和成果集中管理。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先选择项目，再上传文件，文件自动归到该项目下。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以后要找某个项目的文件，直接进文件页按项目检索。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这样交付留档和过程文件都不会丢。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消息中心把系统里的重要动作自动推送给你。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比如客户提交了评价、项目有更新，都会在这里提醒。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报表模块可以按条件筛选项目，一键导出 Excel 清单。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管理数据不用手工整理，直接导出即可。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系统按角色划分权限，三种角色各司其职。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管理员负责建账号、配模板、管全局。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员工负责项目的日常推进。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客户账号只能进客户门户看自己的项目，内部数据完全隔离。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 助手"青青侠"就藏在右下角，随时可以唤起。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项目相关的问题都可以直接问它。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它就像团队里随叫随到的项目小秘书。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具体功能可以在使用中慢慢体验。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客户门户是对外的窗口，客户登录后只看到自己单位的项目。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每个项目卡片点击进去就能看节点进度，非常直观。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项目交付后，客户还能在线提交满意度评价。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这样既给了客户安全感，也让公司的服务质量有据可查。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下面进入第二部分，教大家怎么上手使用。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分三个角色来讲：员工、管理员、客户。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请大家对号入座，记住自己角色的核心三步。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员工日常就三步：新建项目、推进节点、上传文件。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第一步，首页有三种创建方式，常用的是从模板创建。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第二步，进项目详情，在流程画布上逐节点填表单推进。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第三步，把素材和成果传到该项目下的文件区。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管理员负责把系统搭好、转起来。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第一步建账号：用户管理里新建用户，选好部门和角色。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第二步配模板：把公司流程做成模板，大家就能一键套用。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第三步看数据：用报表导出和消息中心掌握全局。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客户账号登录后进入的是独立门户，与内部系统完全隔离。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客户点卡片就能看项目节点进度，体验很直接。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项目交付后，客户可以打分评价，也能随时回看。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右边就是客户点"查看评论"看到的评价弹窗。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最后给大家一个简单的上手清单。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管理员负责建账号、配模板、看报表，把系统搭起来。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员工日常就是建项目、推进节点、传文件。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客户登录门户看进度、给评价。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遇到问题随时找右下角的 AI 助手，或者联系管理员。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image" Target="../media/image11.png"/><Relationship Id="rId3" Type="http://schemas.openxmlformats.org/officeDocument/2006/relationships/tags" Target="../tags/tag8.xml"/><Relationship Id="rId2" Type="http://schemas.openxmlformats.org/officeDocument/2006/relationships/image" Target="../media/image10.png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498600"/>
            <a:ext cx="152400" cy="152400"/>
          </a:xfrm>
          <a:prstGeom prst="roundRect">
            <a:avLst>
              <a:gd name="adj" fmla="val 0"/>
            </a:avLst>
          </a:prstGeom>
          <a:solidFill>
            <a:srgbClr val="E2231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71600" y="1219200"/>
            <a:ext cx="457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青岛领客文化传播有限公司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540000"/>
            <a:ext cx="812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LINK</a:t>
            </a:r>
            <a:r>
              <a:rPr lang="en-US" sz="72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OA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66800" y="4191000"/>
            <a:ext cx="762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数字化项目协同平台 · 内部使用培训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5105400"/>
            <a:ext cx="812800" cy="50800"/>
          </a:xfrm>
          <a:prstGeom prst="roundRect">
            <a:avLst>
              <a:gd name="adj" fmla="val 0"/>
            </a:avLst>
          </a:prstGeom>
          <a:solidFill>
            <a:srgbClr val="E2231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66800" y="54610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5C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品牌与用户如此之近！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6350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C8C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V1.4.17 · 2026 · 项目流程 · 节点把控 · 进度透明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858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TRAINING AGENDA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92200"/>
            <a:ext cx="635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今天讲什么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76200" cy="3810000"/>
          </a:xfrm>
          <a:prstGeom prst="roundRect">
            <a:avLst>
              <a:gd name="adj" fmla="val 0"/>
            </a:avLst>
          </a:prstGeom>
          <a:solidFill>
            <a:srgbClr val="E2231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905000" y="2032000"/>
            <a:ext cx="152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05000" y="33782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认识 LINKOA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05000" y="4013200"/>
            <a:ext cx="457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一套系统覆盖项目全流程：项目管理、流程模板、客户库、文件、消息、报表、用户管理、AI 助手、客户门户。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0" y="2159000"/>
            <a:ext cx="76200" cy="3810000"/>
          </a:xfrm>
          <a:prstGeom prst="roundRect">
            <a:avLst>
              <a:gd name="adj" fmla="val 0"/>
            </a:avLst>
          </a:prstGeom>
          <a:solidFill>
            <a:srgbClr val="1616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001000" y="2032000"/>
            <a:ext cx="152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01000" y="33782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上手使用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01000" y="4013200"/>
            <a:ext cx="330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按角色对号入座：员工怎么推进项目、管理员怎么配账号和模板、客户怎么看进度。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6350000"/>
            <a:ext cx="889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8C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第一部分 · 系统能力 · 第二部分 · 分角色操作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84200"/>
            <a:ext cx="812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不止好用，还要好看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黑白红品牌调性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990600" y="19812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沿用公司标识的黑白红，全站统一视觉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3048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细节质感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990600" y="35052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呼吸动效、卡片悬停、页面过渡，处处用心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762000" y="4572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设计公司出品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990600" y="50292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做设计的人，交付的系统也要有设计感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rcRect t="50" b="50"/>
          <a:stretch>
            <a:fillRect/>
          </a:stretch>
        </p:blipFill>
        <p:spPr>
          <a:xfrm>
            <a:off x="5969000" y="1524000"/>
            <a:ext cx="5461000" cy="370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889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一套系统，覆盖项目全流程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3716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8282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九大模块，从对内协作到对外交付，一个平台搞定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0160000" cy="762000"/>
          </a:xfrm>
          <a:prstGeom prst="roundRect">
            <a:avLst>
              <a:gd name="adj" fmla="val 10000"/>
            </a:avLst>
          </a:prstGeom>
          <a:solidFill>
            <a:srgbClr val="1616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2098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LINKOA · 数字化项目协同平台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32004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项目管理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762500" y="32004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流程模板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55000" y="32004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客户库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40894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文件管理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762500" y="40894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消息通知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255000" y="40894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报表导出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270000" y="49784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用户管理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762500" y="49784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AI 助手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55000" y="49784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客户门户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7404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282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对内：项目、流程、客户、文件、消息、报表 · 对外：客户专属门户 · 辅助：AI 助手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84200"/>
            <a:ext cx="762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项目：从立项到交付，全程可追踪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一张卡片看清一个项目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990600" y="19812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客户单位、对接人、设计师、立项时间、状态集中展示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048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搜索筛选，秒级定位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90600" y="35052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按项目名模糊搜索，按客户单位、状态、时间筛选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572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归档结项，沉淀评价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90600" y="50292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项目完成后一键归档，客户可提交满意度评价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 t="50" b="50"/>
          <a:stretch>
            <a:fillRect/>
          </a:stretch>
        </p:blipFill>
        <p:spPr>
          <a:xfrm>
            <a:off x="5969000" y="1320800"/>
            <a:ext cx="5461000" cy="370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00" y="3938270"/>
            <a:ext cx="4572000" cy="2402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84200"/>
            <a:ext cx="812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流程画布：节点推进，进度一目了然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节点化推进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990600" y="19812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立项登记、需求对齐、设计输出、评审、验收、归档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048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表单留痕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90600" y="35052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每个节点填写对应表单，过程有记录、可追溯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572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多视角查看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90600" y="50292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项目概览、项目讨论、客户评价、操作记录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 t="50" b="50"/>
          <a:stretch>
            <a:fillRect/>
          </a:stretch>
        </p:blipFill>
        <p:spPr>
          <a:xfrm>
            <a:off x="5387975" y="1523365"/>
            <a:ext cx="6568440" cy="446087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84200"/>
            <a:ext cx="812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模板：把成功流程沉淀成标准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预置标准模板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990600" y="19812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展会活动、平面视觉设计、IP 文创产品开发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048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一键套用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90600" y="35052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新建项目时选模板，流程节点自动生成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572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管理员可编辑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90600" y="50292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按业务沉淀流程，让项目交付标准化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 t="50" b="55560"/>
          <a:stretch>
            <a:fillRect/>
          </a:stretch>
        </p:blipFill>
        <p:spPr>
          <a:xfrm>
            <a:off x="4951730" y="1684020"/>
            <a:ext cx="6872605" cy="207391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730" y="4055110"/>
            <a:ext cx="6898005" cy="21329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84200"/>
            <a:ext cx="812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客户库：单位 + 对接人两级管理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客户单位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990600" y="19812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以单位为主体管理客户档案，一目了然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048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对接人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90600" y="35052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单位下挂对接人，联系方式集中管理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572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快速检索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90600" y="50292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按单位筛选、按对接人模糊搜索</a:t>
            </a:r>
            <a:endParaRPr lang="en-US" sz="11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6840" y="1465580"/>
            <a:ext cx="6519545" cy="4536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84200"/>
            <a:ext cx="812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文件：按项目归档，随项目走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项目独立文件空间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990600" y="19812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一个项目一个文件区，素材不散乱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048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上传即归档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90600" y="35052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文件上传后绑定当前项目，随项目检索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572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交付留档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90600" y="50292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成果文件与项目沉淀在一起，随时可查</a:t>
            </a:r>
            <a:endParaRPr lang="en-US" sz="11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230" y="1388745"/>
            <a:ext cx="5704840" cy="28702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4395470"/>
            <a:ext cx="580771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84200"/>
            <a:ext cx="889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消息触达 + 报表导出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473200"/>
            <a:ext cx="508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消息中心 · 重要动作自动通知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0" y="1473200"/>
            <a:ext cx="508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报表导出 · 一键导出项目清单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8" r="18"/>
          <a:stretch>
            <a:fillRect/>
          </a:stretch>
        </p:blipFill>
        <p:spPr>
          <a:xfrm>
            <a:off x="762000" y="1981200"/>
            <a:ext cx="5080000" cy="3454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8" r="18"/>
          <a:stretch>
            <a:fillRect/>
          </a:stretch>
        </p:blipFill>
        <p:spPr>
          <a:xfrm>
            <a:off x="6350000" y="1981200"/>
            <a:ext cx="5080000" cy="3454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762000" y="55372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客户评价、项目更新等自动推送，未读可追踪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6350000" y="55372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按状态、单位、时间筛选，导出 Excel 明细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84200"/>
            <a:ext cx="812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用户：角色权限，各司其职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三档角色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990600" y="19812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管理员管全局、员工做项目、客户看门户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048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按部门管理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90600" y="35052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设计部、市场部等按部门组织账号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572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客户账号隔离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90600" y="50292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客户账号只能进客户门户，接触不到内部数据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 t="50" b="50"/>
          <a:stretch>
            <a:fillRect/>
          </a:stretch>
        </p:blipFill>
        <p:spPr>
          <a:xfrm>
            <a:off x="5969000" y="1524000"/>
            <a:ext cx="5461000" cy="370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84200"/>
            <a:ext cx="812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助手：随时待命的项目小秘书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一呼即应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990600" y="19812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右下角企鹅青青侠，点击即可对话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048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项目问答辅助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90600" y="35052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业务问题随时提问，辅助日常决策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572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智能伴航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90600" y="50292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 AI 成为团队里随叫随到的帮手</a:t>
            </a:r>
            <a:endParaRPr lang="en-US" sz="11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6575" y="1433830"/>
            <a:ext cx="7345680" cy="50323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84200"/>
            <a:ext cx="812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客户门户：把进度交给客户看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客户专属入口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990600" y="19812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客户用自己的账号登录，只看得到本单位的项目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048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进度透明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90600" y="35052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点击卡片查看节点进度，无需进入内部系统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5720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7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在线互动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90600" y="50292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项目交付后在线评价，满意度实时沉淀</a:t>
            </a:r>
            <a:endParaRPr lang="en-US" sz="11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700" y="1285875"/>
            <a:ext cx="5442585" cy="51396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524000"/>
            <a:ext cx="254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6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3175000"/>
            <a:ext cx="635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上手使用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191000"/>
            <a:ext cx="812800" cy="50800"/>
          </a:xfrm>
          <a:prstGeom prst="roundRect">
            <a:avLst>
              <a:gd name="adj" fmla="val 0"/>
            </a:avLst>
          </a:prstGeom>
          <a:solidFill>
            <a:srgbClr val="E2231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45466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按角色对号入座：员工 · 管理员 · 客户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334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记住自己角色的核心三步，日常就能顺利跑起来。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58800"/>
            <a:ext cx="711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员工篇：三步完成日常协作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208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8282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从建项目到交付，记住这三步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796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651000" y="18796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新建项目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233680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首页选「从空白 / 从模板 / 从 JSON 导入」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988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651000" y="30988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推进节点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651000" y="355600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在项目画布上逐节点填表单、推进流程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318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51000" y="43180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上传文件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651000" y="477520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文件页选中项目，上传素材与成果归档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"/>
          <a:srcRect t="50" b="50"/>
          <a:stretch>
            <a:fillRect/>
          </a:stretch>
        </p:blipFill>
        <p:spPr>
          <a:xfrm>
            <a:off x="5969000" y="1524000"/>
            <a:ext cx="5461000" cy="370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58800"/>
            <a:ext cx="711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管理员篇：建账号、配模板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208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8282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系统能不能转起来，管理员是关键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796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651000" y="18796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建用户、设角色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233680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用户管理页新建账号，选部门与角色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988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651000" y="30988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配流程模板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651000" y="355600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模板页新建模板，编排节点与表单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318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51000" y="43180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看数据、管消息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651000" y="477520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报表导出项目清单，消息中心跟进动态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969000" y="1524000"/>
            <a:ext cx="5461000" cy="3708400"/>
          </a:xfrm>
          <a:prstGeom prst="roundRect">
            <a:avLst>
              <a:gd name="adj" fmla="val 2739"/>
            </a:avLst>
          </a:prstGeom>
          <a:solidFill>
            <a:srgbClr val="1616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350000" y="19050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管理员的日常入口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2667000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FF5C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5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用户管理：新建、编辑、重置密码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500" b="0" i="0" u="none" strike="noStrike">
                <a:solidFill>
                  <a:srgbClr val="FF5C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5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模板管理：新建模板、编排流程</a:t>
            </a:r>
            <a:endParaRPr lang="en-US" sz="15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0" i="0" u="none" strike="noStrike">
                <a:solidFill>
                  <a:srgbClr val="FF5C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5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报表导出：一键导出 Excel</a:t>
            </a:r>
            <a:endParaRPr lang="en-US" sz="15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0" i="0" u="none" strike="noStrike">
                <a:solidFill>
                  <a:srgbClr val="FF5C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5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审计日志：操作留痕可查</a:t>
            </a:r>
            <a:endParaRPr lang="en-US" sz="15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58800"/>
            <a:ext cx="711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客户篇：登录门户，随时看进度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208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8282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给客户的专属入口，三步就够了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796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651000" y="18796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登录客户门户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233680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客户用自己的账号登录，只看到本单位的项目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988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651000" y="30988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查看项目进度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651000" y="355600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点击项目卡片，实时查看节点推进情况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318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223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51000" y="43180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16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提交 / 查看评价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651000" y="477520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项目交付后打分评价，可随时回看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"/>
          <a:srcRect t="50" b="50"/>
          <a:stretch>
            <a:fillRect/>
          </a:stretch>
        </p:blipFill>
        <p:spPr>
          <a:xfrm>
            <a:off x="5969000" y="1524000"/>
            <a:ext cx="5461000" cy="370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397000"/>
            <a:ext cx="889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现在，打开 LINKOA 开始使用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2413000"/>
            <a:ext cx="812800" cy="50800"/>
          </a:xfrm>
          <a:prstGeom prst="roundRect">
            <a:avLst>
              <a:gd name="adj" fmla="val 0"/>
            </a:avLst>
          </a:prstGeom>
          <a:solidFill>
            <a:srgbClr val="E2231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533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上手清单 · 对号入座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403600"/>
            <a:ext cx="533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600" b="0" i="0" u="none" strike="noStrike">
                <a:solidFill>
                  <a:srgbClr val="FF5C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管理员：建账号、配模板、看报表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600" b="0" i="0" u="none" strike="noStrike">
                <a:solidFill>
                  <a:srgbClr val="FF5C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员工：建项目、推进节点、传文件</a:t>
            </a:r>
            <a:endParaRPr lang="en-US" sz="1600" b="0" i="0" u="none" strike="noStrike">
              <a:solidFill>
                <a:srgbClr val="E6E6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600" b="0" i="0" u="none" strike="noStrike">
                <a:solidFill>
                  <a:srgbClr val="FF5C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客户：登录门户、看进度、给评价</a:t>
            </a:r>
            <a:endParaRPr lang="en-US" sz="1600" b="0" i="0" u="none" strike="noStrike">
              <a:solidFill>
                <a:srgbClr val="E6E6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112000" y="2794000"/>
            <a:ext cx="431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有任何问题，随时找青青侠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112000" y="3403600"/>
            <a:ext cx="431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600" b="0" i="0" u="none" strike="noStrike">
                <a:solidFill>
                  <a:srgbClr val="FF5C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右下角 AI 助手在线解答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600" b="0" i="0" u="none" strike="noStrike">
                <a:solidFill>
                  <a:srgbClr val="FF5C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也可联系管理员协助开通账号</a:t>
            </a:r>
            <a:endParaRPr lang="en-US" sz="1600" b="0" i="0" u="none" strike="noStrike">
              <a:solidFill>
                <a:srgbClr val="E6E6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600" b="0" i="0" u="none" strike="noStrike">
                <a:solidFill>
                  <a:srgbClr val="FF5C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使用问题可随时反馈迭代</a:t>
            </a:r>
            <a:endParaRPr lang="en-US" sz="1600" b="0" i="0" u="none" strike="noStrike">
              <a:solidFill>
                <a:srgbClr val="E6E6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53340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5C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品牌与用户如此之近！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6223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青岛领客文化传播有限公司 · LINKOA V1.4.17 · 2026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6,&quot;left&quot;:60,&quot;top&quot;:120,&quot;width&quot;:398}"/>
</p:tagLst>
</file>

<file path=ppt/tags/tag2.xml><?xml version="1.0" encoding="utf-8"?>
<p:tagLst xmlns:p="http://schemas.openxmlformats.org/presentationml/2006/main">
  <p:tag name="KSO_WM_DIAGRAM_VIRTUALLY_FRAME" val="{&quot;height&quot;:346,&quot;left&quot;:60,&quot;top&quot;:120,&quot;width&quot;:398}"/>
</p:tagLst>
</file>

<file path=ppt/tags/tag3.xml><?xml version="1.0" encoding="utf-8"?>
<p:tagLst xmlns:p="http://schemas.openxmlformats.org/presentationml/2006/main">
  <p:tag name="KSO_WM_DIAGRAM_VIRTUALLY_FRAME" val="{&quot;height&quot;:346,&quot;left&quot;:60,&quot;top&quot;:120,&quot;width&quot;:398}"/>
</p:tagLst>
</file>

<file path=ppt/tags/tag4.xml><?xml version="1.0" encoding="utf-8"?>
<p:tagLst xmlns:p="http://schemas.openxmlformats.org/presentationml/2006/main">
  <p:tag name="KSO_WM_DIAGRAM_VIRTUALLY_FRAME" val="{&quot;height&quot;:346,&quot;left&quot;:60,&quot;top&quot;:120,&quot;width&quot;:398}"/>
</p:tagLst>
</file>

<file path=ppt/tags/tag5.xml><?xml version="1.0" encoding="utf-8"?>
<p:tagLst xmlns:p="http://schemas.openxmlformats.org/presentationml/2006/main">
  <p:tag name="KSO_WM_DIAGRAM_VIRTUALLY_FRAME" val="{&quot;height&quot;:346,&quot;left&quot;:60,&quot;top&quot;:120,&quot;width&quot;:398}"/>
</p:tagLst>
</file>

<file path=ppt/tags/tag6.xml><?xml version="1.0" encoding="utf-8"?>
<p:tagLst xmlns:p="http://schemas.openxmlformats.org/presentationml/2006/main">
  <p:tag name="KSO_WM_DIAGRAM_VIRTUALLY_FRAME" val="{&quot;height&quot;:346,&quot;left&quot;:60,&quot;top&quot;:120,&quot;width&quot;:398}"/>
</p:tagLst>
</file>

<file path=ppt/tags/tag7.xml><?xml version="1.0" encoding="utf-8"?>
<p:tagLst xmlns:p="http://schemas.openxmlformats.org/presentationml/2006/main">
  <p:tag name="KSO_WM_DIAGRAM_VIRTUALLY_FRAME" val="{&quot;height&quot;:340,&quot;left&quot;:60,&quot;top&quot;:156,&quot;width&quot;:840}"/>
</p:tagLst>
</file>

<file path=ppt/tags/tag8.xml><?xml version="1.0" encoding="utf-8"?>
<p:tagLst xmlns:p="http://schemas.openxmlformats.org/presentationml/2006/main">
  <p:tag name="KSO_WM_DIAGRAM_VIRTUALLY_FRAME" val="{&quot;height&quot;:340,&quot;left&quot;:60,&quot;top&quot;:156,&quot;width&quot;:840}"/>
</p:tagLst>
</file>

<file path=ppt/tags/tag9.xml><?xml version="1.0" encoding="utf-8"?>
<p:tagLst xmlns:p="http://schemas.openxmlformats.org/presentationml/2006/main">
  <p:tag name="KSO_WM_DIAGRAM_VIRTUALLY_FRAME" val="{&quot;height&quot;:340,&quot;left&quot;:60,&quot;top&quot;:156,&quot;width&quot;:840}"/>
</p:tagLst>
</file>

<file path=ppt/tags/tag10.xml><?xml version="1.0" encoding="utf-8"?>
<p:tagLst xmlns:p="http://schemas.openxmlformats.org/presentationml/2006/main">
  <p:tag name="KSO_WM_DIAGRAM_VIRTUALLY_FRAME" val="{&quot;height&quot;:340,&quot;left&quot;:60,&quot;top&quot;:156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1886</Words>
  <Application>WPS 演示</Application>
  <PresentationFormat/>
  <Paragraphs>289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白白</cp:lastModifiedBy>
  <cp:revision>7</cp:revision>
  <dcterms:created xsi:type="dcterms:W3CDTF">2026-09-03T09:45:03Z</dcterms:created>
  <dcterms:modified xsi:type="dcterms:W3CDTF">2026-09-03T09:50:24Z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F952C36555964C5A9AE9FF9ECFA22234_12</vt:lpwstr>
  </property>
</Properties>
</file>